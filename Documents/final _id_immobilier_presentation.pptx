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4402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 IMMOBILIER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21488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B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Indice Intelligent du Marché Immobilier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2651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 err="1">
                <a:solidFill>
                  <a:srgbClr val="8A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</a:t>
            </a:r>
            <a:r>
              <a:rPr lang="en-US" sz="1300" i="1" dirty="0">
                <a:solidFill>
                  <a:srgbClr val="8A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i="1" dirty="0" smtClean="0">
                <a:solidFill>
                  <a:srgbClr val="8A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Big </a:t>
            </a:r>
            <a:r>
              <a:rPr lang="en-US" sz="1300" i="1" dirty="0">
                <a:solidFill>
                  <a:srgbClr val="8A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3154680"/>
            <a:ext cx="2286000" cy="3657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337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Présenté par 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639312"/>
            <a:ext cx="66187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AYODILEKI Maleki  ·  DZAKPATA Koami Junior  ·  DAYO Kokou Cyrille  ·  MADJIADOUM Yannick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40050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 smtClean="0">
                <a:solidFill>
                  <a:srgbClr val="8A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</a:t>
            </a:r>
            <a:r>
              <a:rPr lang="en-US" sz="1000" i="1" dirty="0" smtClean="0">
                <a:solidFill>
                  <a:srgbClr val="8A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 </a:t>
            </a:r>
            <a:r>
              <a:rPr lang="en-US" sz="1000" i="1" dirty="0">
                <a:solidFill>
                  <a:srgbClr val="8A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 ADANOU Kossi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PROBLÉMATIQUE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2743200" cy="73152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1430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❓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Opacité du marché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42316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donnée publique fiable sur les prix immobiliers au Togo. Acheteurs et vendeurs naviguent à l'aveugle.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14400"/>
            <a:ext cx="2743200" cy="7315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11430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⚠️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37560" y="1920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Prix incohérents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42316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Grands écarts de prix entre quartiers sans explication. Impossible de comparer objectivement les offres.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91440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914400"/>
            <a:ext cx="27432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11430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📂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263640" y="1920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dispersées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242316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Annonces éparpillées sur ImmoAsk, CoinAfrique, Facebook. Aucune centralisation ni standardisation.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4297680"/>
            <a:ext cx="8595360" cy="594360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2976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rendre le marché immobilier togolais transparent, fiable et accessible à tous ?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SOLUTION — ID IMMOBILIER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A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 de référence pour l'immobilier togolais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011680" cy="3291840"/>
          </a:xfrm>
          <a:prstGeom prst="rect">
            <a:avLst/>
          </a:prstGeom>
          <a:solidFill>
            <a:srgbClr val="0D2438"/>
          </a:solidFill>
          <a:ln w="12700">
            <a:solidFill>
              <a:srgbClr val="1A3A5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17320"/>
            <a:ext cx="2011680" cy="64008"/>
          </a:xfrm>
          <a:prstGeom prst="rect">
            <a:avLst/>
          </a:prstGeom>
          <a:solidFill>
            <a:srgbClr val="00BFC4"/>
          </a:solidFill>
          <a:ln w="12700">
            <a:solidFill>
              <a:srgbClr val="00BF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00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F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21762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65176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Publier des prix de référence par quartier et type de bien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0592" y="1417320"/>
            <a:ext cx="2011680" cy="3291840"/>
          </a:xfrm>
          <a:prstGeom prst="rect">
            <a:avLst/>
          </a:prstGeom>
          <a:solidFill>
            <a:srgbClr val="0D2438"/>
          </a:solidFill>
          <a:ln w="12700">
            <a:solidFill>
              <a:srgbClr val="1A3A5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417320"/>
            <a:ext cx="2011680" cy="6400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1600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5D0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42032" y="21762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Indice de marché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42032" y="265176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Calculer l'évolution des prix (Base 100) zone par zone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26864" y="1417320"/>
            <a:ext cx="2011680" cy="3291840"/>
          </a:xfrm>
          <a:prstGeom prst="rect">
            <a:avLst/>
          </a:prstGeom>
          <a:solidFill>
            <a:srgbClr val="0D2438"/>
          </a:solidFill>
          <a:ln w="12700">
            <a:solidFill>
              <a:srgbClr val="1A3A5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1417320"/>
            <a:ext cx="201168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600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718304" y="21762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Écart OTR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18304" y="265176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Comparer prix marché vs valeurs vénales officielles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03136" y="1417320"/>
            <a:ext cx="2011680" cy="3291840"/>
          </a:xfrm>
          <a:prstGeom prst="rect">
            <a:avLst/>
          </a:prstGeom>
          <a:solidFill>
            <a:srgbClr val="0D2438"/>
          </a:solidFill>
          <a:ln w="12700">
            <a:solidFill>
              <a:srgbClr val="1A3A5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03136" y="1417320"/>
            <a:ext cx="201168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94576" y="1600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894576" y="21762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94576" y="265176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quotidien sans intervention humaine via Airflow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BIG DATA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1000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25134"/>
            <a:ext cx="9092119" cy="26557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DU PIPELINE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8778240" cy="411480"/>
          </a:xfrm>
          <a:prstGeom prst="rect">
            <a:avLst/>
          </a:prstGeom>
          <a:solidFill>
            <a:srgbClr val="0D2438"/>
          </a:solidFill>
          <a:ln w="12700">
            <a:solidFill>
              <a:srgbClr val="1A3A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82296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7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 Apache Airflow — Orchestration quotidienne à 06h00 </a:t>
            </a:r>
            <a:r>
              <a:rPr lang="en-US" sz="1000" b="1" dirty="0" smtClean="0">
                <a:solidFill>
                  <a:srgbClr val="017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000" b="1" dirty="0">
                <a:solidFill>
                  <a:srgbClr val="017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 : id_immobilier_pipeline)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1417320"/>
            <a:ext cx="1325880" cy="2560320"/>
          </a:xfrm>
          <a:prstGeom prst="rect">
            <a:avLst/>
          </a:prstGeom>
          <a:solidFill>
            <a:srgbClr val="0D2438"/>
          </a:solidFill>
          <a:ln w="12700">
            <a:solidFill>
              <a:srgbClr val="1A3A5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417320"/>
            <a:ext cx="132588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581912"/>
            <a:ext cx="411480" cy="4114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819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6888" y="21031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" y="251460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ImmoAsk API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A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CoinAfrique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508760" y="2697480"/>
            <a:ext cx="13716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72768" y="246888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</a:rPr>
              <a:t>›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645920" y="1417320"/>
            <a:ext cx="1325880" cy="2560320"/>
          </a:xfrm>
          <a:prstGeom prst="rect">
            <a:avLst/>
          </a:prstGeom>
          <a:solidFill>
            <a:srgbClr val="0D2438"/>
          </a:solidFill>
          <a:ln w="12700">
            <a:solidFill>
              <a:srgbClr val="1A3A5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645920" y="1417320"/>
            <a:ext cx="1325880" cy="6400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03120" y="1581912"/>
            <a:ext cx="411480" cy="411480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03120" y="15819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09928" y="21031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09928" y="251460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+ CSV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A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971800" y="2697480"/>
            <a:ext cx="13716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35808" y="246888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</a:rPr>
              <a:t>›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108960" y="1417320"/>
            <a:ext cx="1325880" cy="2560320"/>
          </a:xfrm>
          <a:prstGeom prst="rect">
            <a:avLst/>
          </a:prstGeom>
          <a:solidFill>
            <a:srgbClr val="0D2438"/>
          </a:solidFill>
          <a:ln w="12700">
            <a:solidFill>
              <a:srgbClr val="1A3A5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08960" y="1417320"/>
            <a:ext cx="1325880" cy="64008"/>
          </a:xfrm>
          <a:prstGeom prst="rect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66160" y="1581912"/>
            <a:ext cx="411480" cy="411480"/>
          </a:xfrm>
          <a:prstGeom prst="ellipse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15819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172968" y="21031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172968" y="251460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PySpark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A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types std.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34840" y="2697480"/>
            <a:ext cx="13716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98848" y="246888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</a:rPr>
              <a:t>›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0" y="1417320"/>
            <a:ext cx="1325880" cy="2560320"/>
          </a:xfrm>
          <a:prstGeom prst="rect">
            <a:avLst/>
          </a:prstGeom>
          <a:solidFill>
            <a:srgbClr val="0D2438"/>
          </a:solidFill>
          <a:ln w="12700">
            <a:solidFill>
              <a:srgbClr val="1A3A5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0" y="1417320"/>
            <a:ext cx="132588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0" y="1581912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15819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636008" y="21031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636008" y="251460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A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tables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897880" y="2697480"/>
            <a:ext cx="13716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61888" y="246888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</a:rPr>
              <a:t>›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035040" y="1417320"/>
            <a:ext cx="1325880" cy="2560320"/>
          </a:xfrm>
          <a:prstGeom prst="rect">
            <a:avLst/>
          </a:prstGeom>
          <a:solidFill>
            <a:srgbClr val="0D2438"/>
          </a:solidFill>
          <a:ln w="12700">
            <a:solidFill>
              <a:srgbClr val="1A3A5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35040" y="1417320"/>
            <a:ext cx="132588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92240" y="1581912"/>
            <a:ext cx="411480" cy="4114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15819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099048" y="21031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099048" y="251460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Stats / Zone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A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Prix moyen/m²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360920" y="2697480"/>
            <a:ext cx="13716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24928" y="246888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</a:rPr>
              <a:t>›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7498080" y="1417320"/>
            <a:ext cx="1325880" cy="2560320"/>
          </a:xfrm>
          <a:prstGeom prst="rect">
            <a:avLst/>
          </a:prstGeom>
          <a:solidFill>
            <a:srgbClr val="0D2438"/>
          </a:solidFill>
          <a:ln w="12700">
            <a:solidFill>
              <a:srgbClr val="1A3A5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498080" y="1417320"/>
            <a:ext cx="132588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955280" y="1581912"/>
            <a:ext cx="411480" cy="4114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55280" y="15819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562088" y="21031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Indice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562088" y="251460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100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A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HAUSSE/BAISSE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82880" y="416052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: ImmoAsk (API)  ·  CoinAfrique (scraping)  ·  Facebook (Excel)  ·  OTR Valeurs Vénales (Excel)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17CEE"/>
          </a:solidFill>
          <a:ln w="12700">
            <a:solidFill>
              <a:srgbClr val="017C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ORCHESTRATION — APACHE AIRFLOW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868680"/>
            <a:ext cx="111556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868680"/>
            <a:ext cx="111556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" y="100584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" y="14173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ImmoAsk API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011680"/>
            <a:ext cx="841248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011680"/>
            <a:ext cx="841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98448" y="137160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435608" y="868680"/>
            <a:ext cx="111556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435608" y="868680"/>
            <a:ext cx="1115568" cy="6400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90472" y="100584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90472" y="14173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CSV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572768" y="2011680"/>
            <a:ext cx="841248" cy="32004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72768" y="2011680"/>
            <a:ext cx="841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51176" y="137160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688336" y="868680"/>
            <a:ext cx="111556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688336" y="868680"/>
            <a:ext cx="1115568" cy="640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0" y="100584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Nettoyage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0" y="14173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Fichiers bruts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825496" y="2011680"/>
            <a:ext cx="841248" cy="3200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25496" y="2011680"/>
            <a:ext cx="841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min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03904" y="137160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</a:rPr>
              <a:t>→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941064" y="868680"/>
            <a:ext cx="111556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941064" y="868680"/>
            <a:ext cx="1115568" cy="64008"/>
          </a:xfrm>
          <a:prstGeom prst="rect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95928" y="100584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95928" y="14173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PySpark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078224" y="2011680"/>
            <a:ext cx="841248" cy="320040"/>
          </a:xfrm>
          <a:prstGeom prst="rect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78224" y="2011680"/>
            <a:ext cx="841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56632" y="137160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</a:rPr>
              <a:t>→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193792" y="868680"/>
            <a:ext cx="111556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193792" y="868680"/>
            <a:ext cx="1115568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48656" y="100584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48656" y="14173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330952" y="2011680"/>
            <a:ext cx="841248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30952" y="2011680"/>
            <a:ext cx="841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09360" y="137160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</a:rPr>
              <a:t>→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446520" y="868680"/>
            <a:ext cx="111556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46520" y="868680"/>
            <a:ext cx="111556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01384" y="100584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Indicateurs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501384" y="14173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583680" y="2011680"/>
            <a:ext cx="841248" cy="32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2011680"/>
            <a:ext cx="841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562088" y="137160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</a:rPr>
              <a:t>→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699248" y="868680"/>
            <a:ext cx="111556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699248" y="868680"/>
            <a:ext cx="1115568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54112" y="100584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754112" y="14173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100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836408" y="2011680"/>
            <a:ext cx="841248" cy="3200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836408" y="2011680"/>
            <a:ext cx="841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min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82880" y="3474720"/>
            <a:ext cx="2057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274320" y="35661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Fréquence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74320" y="3913632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Tous les jours à 06h00 UTC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377440" y="3474720"/>
            <a:ext cx="2057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2468880" y="35661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Catch-up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2468880" y="3913632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Désactivé (catchup=False)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572000" y="3474720"/>
            <a:ext cx="2057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4663440" y="35661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663440" y="3913632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tentative · délai 5 min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766560" y="3474720"/>
            <a:ext cx="2057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6858000" y="35661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 Spark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858000" y="3913632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minutes (subprocess docker exec)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STACK TECHNOLOGIQUE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A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2011680" cy="3931920"/>
          </a:xfrm>
          <a:prstGeom prst="rect">
            <a:avLst/>
          </a:prstGeom>
          <a:solidFill>
            <a:srgbClr val="0D2438"/>
          </a:solidFill>
          <a:ln w="12700">
            <a:solidFill>
              <a:srgbClr val="1A3A5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201168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22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Collecte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" y="1463040"/>
            <a:ext cx="54864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" y="138988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requests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" y="2103120"/>
            <a:ext cx="54864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" y="202996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BeautifulSoup 4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8328" y="2743200"/>
            <a:ext cx="54864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" y="267004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</a:t>
            </a:r>
            <a:r>
              <a:rPr lang="en-US" sz="1050" dirty="0" err="1" smtClean="0">
                <a:solidFill>
                  <a:srgbClr val="C8D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ImmoAsk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8328" y="3383280"/>
            <a:ext cx="54864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" y="331012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Scraping CoinAfrique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423160" y="822960"/>
            <a:ext cx="2011680" cy="3100529"/>
          </a:xfrm>
          <a:prstGeom prst="rect">
            <a:avLst/>
          </a:prstGeom>
          <a:solidFill>
            <a:srgbClr val="0D2438"/>
          </a:solidFill>
          <a:ln w="12700">
            <a:solidFill>
              <a:srgbClr val="1A3A5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23160" y="822960"/>
            <a:ext cx="2011680" cy="457200"/>
          </a:xfrm>
          <a:prstGeom prst="rect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822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Traitement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32888" y="1463040"/>
            <a:ext cx="54864" cy="54864"/>
          </a:xfrm>
          <a:prstGeom prst="rect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60904" y="138988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Spark 3.5.1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32888" y="2103120"/>
            <a:ext cx="54864" cy="54864"/>
          </a:xfrm>
          <a:prstGeom prst="rect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60904" y="202996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PySpark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532888" y="2743200"/>
            <a:ext cx="54864" cy="54864"/>
          </a:xfrm>
          <a:prstGeom prst="rect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60904" y="267004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(nettoyage local)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532888" y="3383280"/>
            <a:ext cx="54864" cy="54864"/>
          </a:xfrm>
          <a:prstGeom prst="rect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60904" y="331012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8.0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17720" y="822960"/>
            <a:ext cx="2011680" cy="3931920"/>
          </a:xfrm>
          <a:prstGeom prst="rect">
            <a:avLst/>
          </a:prstGeom>
          <a:solidFill>
            <a:srgbClr val="0D2438"/>
          </a:solidFill>
          <a:ln w="12700">
            <a:solidFill>
              <a:srgbClr val="1A3A5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17720" y="822960"/>
            <a:ext cx="20116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822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27448" y="1463040"/>
            <a:ext cx="54864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55464" y="138988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Airflow 2.x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27448" y="2103120"/>
            <a:ext cx="54864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55464" y="202996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27448" y="2743200"/>
            <a:ext cx="54864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55464" y="267004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 quotidien 06h00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27448" y="3383280"/>
            <a:ext cx="54864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55464" y="331012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conteneurs Docker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812280" y="822960"/>
            <a:ext cx="2011680" cy="3100529"/>
          </a:xfrm>
          <a:prstGeom prst="rect">
            <a:avLst/>
          </a:prstGeom>
          <a:solidFill>
            <a:srgbClr val="0D2438"/>
          </a:solidFill>
          <a:ln w="12700">
            <a:solidFill>
              <a:srgbClr val="1A3A5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812280" y="822960"/>
            <a:ext cx="2011680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03720" y="822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Visualisation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922008" y="1463040"/>
            <a:ext cx="54864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50024" y="138988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922008" y="2103120"/>
            <a:ext cx="54864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50024" y="202996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Folium (carte zones)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922008" y="2743200"/>
            <a:ext cx="54864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50024" y="267004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 (graphiques)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758F"/>
          </a:solidFill>
          <a:ln w="12700">
            <a:solidFill>
              <a:srgbClr val="0075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SCHÉMA BASE DE DONNÉES — MySQL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1598"/>
            <a:ext cx="8869680" cy="43662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DONNÉES &amp; RÉSULTATS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1965960" cy="1645920"/>
          </a:xfrm>
          <a:prstGeom prst="rect">
            <a:avLst/>
          </a:prstGeom>
          <a:solidFill>
            <a:srgbClr val="0D2438"/>
          </a:solidFill>
          <a:ln w="12700">
            <a:solidFill>
              <a:srgbClr val="1A3A5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196596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5 262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Annonces validées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50592" y="868680"/>
            <a:ext cx="1965960" cy="1645920"/>
          </a:xfrm>
          <a:prstGeom prst="rect">
            <a:avLst/>
          </a:prstGeom>
          <a:solidFill>
            <a:srgbClr val="0D2438"/>
          </a:solidFill>
          <a:ln w="12700">
            <a:solidFill>
              <a:srgbClr val="1A3A5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868680"/>
            <a:ext cx="1965960" cy="64008"/>
          </a:xfrm>
          <a:prstGeom prst="rect">
            <a:avLst/>
          </a:prstGeom>
          <a:solidFill>
            <a:srgbClr val="00BFC4"/>
          </a:solidFill>
          <a:ln w="12700">
            <a:solidFill>
              <a:srgbClr val="00BF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00584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F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566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542032" y="17373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Zones géographiques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26864" y="868680"/>
            <a:ext cx="1965960" cy="1645920"/>
          </a:xfrm>
          <a:prstGeom prst="rect">
            <a:avLst/>
          </a:prstGeom>
          <a:solidFill>
            <a:srgbClr val="0D2438"/>
          </a:solidFill>
          <a:ln w="12700">
            <a:solidFill>
              <a:srgbClr val="1A3A5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26864" y="868680"/>
            <a:ext cx="196596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8304" y="100584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1 163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718304" y="17373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Indices générés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03136" y="868680"/>
            <a:ext cx="1965960" cy="1645920"/>
          </a:xfrm>
          <a:prstGeom prst="rect">
            <a:avLst/>
          </a:prstGeom>
          <a:solidFill>
            <a:srgbClr val="0D2438"/>
          </a:solidFill>
          <a:ln w="12700">
            <a:solidFill>
              <a:srgbClr val="1A3A5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03136" y="868680"/>
            <a:ext cx="1965960" cy="6400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94576" y="100584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5D0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3.1%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894576" y="17373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Taux de rejet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26974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Tendances du marché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108960"/>
            <a:ext cx="2651760" cy="1463040"/>
          </a:xfrm>
          <a:prstGeom prst="rect">
            <a:avLst/>
          </a:prstGeom>
          <a:solidFill>
            <a:srgbClr val="0A2818"/>
          </a:solidFill>
          <a:ln w="12700">
            <a:solidFill>
              <a:srgbClr val="1A3A5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32004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C55E"/>
                </a:solidFill>
              </a:rPr>
              <a:t>↑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14400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HAUSSE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36393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 zones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154680" y="3108960"/>
            <a:ext cx="2651760" cy="1463040"/>
          </a:xfrm>
          <a:prstGeom prst="rect">
            <a:avLst/>
          </a:prstGeom>
          <a:solidFill>
            <a:srgbClr val="0D2438"/>
          </a:solidFill>
          <a:ln w="12700">
            <a:solidFill>
              <a:srgbClr val="1A3A5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46120" y="32004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AAABB"/>
                </a:solidFill>
              </a:rPr>
              <a:t>→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3794760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AAB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STABLE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794760" y="36393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1 001 zones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35040" y="3108960"/>
            <a:ext cx="2651760" cy="1463040"/>
          </a:xfrm>
          <a:prstGeom prst="rect">
            <a:avLst/>
          </a:prstGeom>
          <a:solidFill>
            <a:srgbClr val="2A1008"/>
          </a:solidFill>
          <a:ln w="12700">
            <a:solidFill>
              <a:srgbClr val="1A3A5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26480" y="32004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5D04"/>
                </a:solidFill>
              </a:rPr>
              <a:t>↓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6675120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D0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BAISSE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675120" y="36393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 zones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DÉFIS RENCONTRÉS &amp; SOLUTIONS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A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8778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822960"/>
            <a:ext cx="64008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" y="1051560"/>
            <a:ext cx="402336" cy="40233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051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8961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Spark au démarrage du DAG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126187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SparkSession déplacée dans run() — Airflow ne lance plus Spark au parsing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932688"/>
            <a:ext cx="50292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93268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OK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82880" y="1856232"/>
            <a:ext cx="8778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1856232"/>
            <a:ext cx="64008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" y="2084832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" y="20848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192938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Colonnes API incompatibles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8680" y="2295144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Normalizers par source via SCRAPED_NORMALIZERS avant cleaning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965960"/>
            <a:ext cx="50292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96596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OK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82880" y="2889504"/>
            <a:ext cx="8778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82880" y="2889504"/>
            <a:ext cx="64008" cy="8686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" y="3118104"/>
            <a:ext cx="402336" cy="40233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" y="31181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296265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Localisation CoinAfrique erronée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68680" y="3328416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Extraction quartier via référentiels QUARTIERS_LOME / VILLES_TOGO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2999232"/>
            <a:ext cx="50292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99923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OK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82880" y="3922776"/>
            <a:ext cx="8778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82880" y="3922776"/>
            <a:ext cx="64008" cy="86868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9184" y="4151376"/>
            <a:ext cx="402336" cy="402336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" y="41513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68680" y="39959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Prix/m² aberrants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68680" y="436168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 lot = 600 m² (norme foncière Togo) · filtre prix_m2 &lt; 1 → None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4032504"/>
            <a:ext cx="50292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403250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OK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PERSPECTIVES &amp; AMÉLIORATIONS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697480" cy="3931920"/>
          </a:xfrm>
          <a:prstGeom prst="rect">
            <a:avLst/>
          </a:prstGeom>
          <a:solidFill>
            <a:srgbClr val="0D2438"/>
          </a:solidFill>
          <a:ln w="12700">
            <a:solidFill>
              <a:srgbClr val="1A3A5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269748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229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Court terme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2423160" cy="685800"/>
          </a:xfrm>
          <a:prstGeom prst="rect">
            <a:avLst/>
          </a:prstGeom>
          <a:solidFill>
            <a:srgbClr val="13203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08760"/>
            <a:ext cx="54864" cy="685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6002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 hebdomadaire CoinAfrique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2423160" cy="685800"/>
          </a:xfrm>
          <a:prstGeom prst="rect">
            <a:avLst/>
          </a:prstGeom>
          <a:solidFill>
            <a:srgbClr val="13203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377440"/>
            <a:ext cx="54864" cy="685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4688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Géocodage GPS + cartographie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2423160" cy="685800"/>
          </a:xfrm>
          <a:prstGeom prst="rect">
            <a:avLst/>
          </a:prstGeom>
          <a:solidFill>
            <a:srgbClr val="13203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246120"/>
            <a:ext cx="54864" cy="685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3375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surface améliorée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0" y="822960"/>
            <a:ext cx="2697480" cy="3931920"/>
          </a:xfrm>
          <a:prstGeom prst="rect">
            <a:avLst/>
          </a:prstGeom>
          <a:solidFill>
            <a:srgbClr val="0D2438"/>
          </a:solidFill>
          <a:ln w="12700">
            <a:solidFill>
              <a:srgbClr val="1A3A5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822960"/>
            <a:ext cx="2697480" cy="50292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8229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Moyen terme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337560" y="1508760"/>
            <a:ext cx="2423160" cy="685800"/>
          </a:xfrm>
          <a:prstGeom prst="rect">
            <a:avLst/>
          </a:prstGeom>
          <a:solidFill>
            <a:srgbClr val="13203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7560" y="1508760"/>
            <a:ext cx="54864" cy="6858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002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Scraping Facebook Marketplace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37560" y="2377440"/>
            <a:ext cx="2423160" cy="685800"/>
          </a:xfrm>
          <a:prstGeom prst="rect">
            <a:avLst/>
          </a:prstGeom>
          <a:solidFill>
            <a:srgbClr val="13203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37560" y="2377440"/>
            <a:ext cx="54864" cy="6858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4688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transactions notariales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37560" y="3246120"/>
            <a:ext cx="2423160" cy="685800"/>
          </a:xfrm>
          <a:prstGeom prst="rect">
            <a:avLst/>
          </a:prstGeom>
          <a:solidFill>
            <a:srgbClr val="13203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37560" y="3246120"/>
            <a:ext cx="54864" cy="6858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33375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ML prédictif par zone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80760" y="822960"/>
            <a:ext cx="2697480" cy="3931920"/>
          </a:xfrm>
          <a:prstGeom prst="rect">
            <a:avLst/>
          </a:prstGeom>
          <a:solidFill>
            <a:srgbClr val="0D2438"/>
          </a:solidFill>
          <a:ln w="12700">
            <a:solidFill>
              <a:srgbClr val="1A3A5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822960"/>
            <a:ext cx="2697480" cy="502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8229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Long terme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17920" y="1508760"/>
            <a:ext cx="2423160" cy="685800"/>
          </a:xfrm>
          <a:prstGeom prst="rect">
            <a:avLst/>
          </a:prstGeom>
          <a:solidFill>
            <a:srgbClr val="13203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1508760"/>
            <a:ext cx="54864" cy="6858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16002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publique notaires &amp; devs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17920" y="2377440"/>
            <a:ext cx="2423160" cy="685800"/>
          </a:xfrm>
          <a:prstGeom prst="rect">
            <a:avLst/>
          </a:prstGeom>
          <a:solidFill>
            <a:srgbClr val="13203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0" y="2377440"/>
            <a:ext cx="54864" cy="6858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24688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Alertes évolution des prix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17920" y="3246120"/>
            <a:ext cx="2423160" cy="685800"/>
          </a:xfrm>
          <a:prstGeom prst="rect">
            <a:avLst/>
          </a:prstGeom>
          <a:solidFill>
            <a:srgbClr val="13203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7920" y="3246120"/>
            <a:ext cx="54864" cy="6858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33375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Kara et Atakpamé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Merci !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200400" y="1874520"/>
            <a:ext cx="2743200" cy="4572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11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0B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Immobilier · Indice Intelligent du Marché Immobilier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2697480"/>
            <a:ext cx="201168" cy="201168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89888" y="260604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5 262 annonces collectées et validées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97280" y="3246120"/>
            <a:ext cx="201168" cy="201168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89888" y="31546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sources de données intégrées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697480"/>
            <a:ext cx="201168" cy="201168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47488" y="260604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automatisé quotidiennement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3246120"/>
            <a:ext cx="201168" cy="201168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47488" y="31546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Indices de prix par zone disponibles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 Introduction Big Data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602</Words>
  <Application>Microsoft Office PowerPoint</Application>
  <PresentationFormat>Affichage à l'écran (16:9)</PresentationFormat>
  <Paragraphs>199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 Immobilier — Indice Intelligent du Marché Immobilier</dc:title>
  <dc:subject>PptxGenJS Presentation</dc:subject>
  <dc:creator>PptxGenJS</dc:creator>
  <cp:lastModifiedBy>Yannick Madjiadoum</cp:lastModifiedBy>
  <cp:revision>9</cp:revision>
  <dcterms:created xsi:type="dcterms:W3CDTF">2026-03-08T15:41:46Z</dcterms:created>
  <dcterms:modified xsi:type="dcterms:W3CDTF">2026-03-08T15:55:57Z</dcterms:modified>
</cp:coreProperties>
</file>