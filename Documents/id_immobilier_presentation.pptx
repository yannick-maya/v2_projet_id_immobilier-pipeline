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566160"/>
            <a:ext cx="2011680" cy="15773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280160" cy="1188720"/>
          </a:xfrm>
          <a:prstGeom prst="rect">
            <a:avLst/>
          </a:prstGeom>
          <a:solidFill>
            <a:srgbClr val="C15F3C">
              <a:alpha val="18000"/>
            </a:srgbClr>
          </a:solidFill>
          <a:ln w="12700">
            <a:solidFill>
              <a:srgbClr val="C15F3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Immobilier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Big Data pour la Transparence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Marché Immobilier au Togo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457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54680"/>
            <a:ext cx="155448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3154680"/>
            <a:ext cx="155448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154680"/>
            <a:ext cx="155448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3154680"/>
            <a:ext cx="155448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3154680"/>
            <a:ext cx="155448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3020" y="1298448"/>
            <a:ext cx="731520" cy="73152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3020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Opacite du marche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donnee publique fiable sur les prix immobiliers au Togo. Acheteurs et vendeurs naviguent a l'aveugle.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3380" y="1298448"/>
            <a:ext cx="731520" cy="73152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3380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incoh rents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6974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ecarts de prix entre quartiers sans explication. Impossible de comparer objectivement les offres.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63740" y="1298448"/>
            <a:ext cx="731520" cy="73152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3740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17920" y="2176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dispersees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6974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eparpillees sur ImmoAsk, CoinAfrique, Facebook. Aucune centralisation ni standardisation.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1B3A4B">
              <a:alpha val="10000"/>
            </a:srgbClr>
          </a:solidFill>
          <a:ln w="12700">
            <a:solidFill>
              <a:srgbClr val="1B3A4B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rendre le marche immobilier togolais transparent, fiable et accessible a tous 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ID IMMOBILIER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reference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l'immobilier togolais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457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automatique multi-sources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standardisation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d'indices de prix par zone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valeurs venales OTR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de consultation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114800" cy="73152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097280"/>
            <a:ext cx="530352" cy="7315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9728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1152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des prix de reference par quartier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114800" cy="73152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11680"/>
            <a:ext cx="530352" cy="7315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1168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2066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marche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l'evolution des prix (Base 100)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73152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926080"/>
            <a:ext cx="530352" cy="7315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2608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OTR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prix marche vs valeurs venales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114800" cy="73152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840480"/>
            <a:ext cx="530352" cy="7315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40480"/>
            <a:ext cx="530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4960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quotidien sans intervention manuelle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1280160" cy="123444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1207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81328" y="1773936"/>
            <a:ext cx="18288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ImmoAsk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CoinAfrique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82496" y="1188720"/>
            <a:ext cx="128016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82496" y="1207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82496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62656" y="1773936"/>
            <a:ext cx="18288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6776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CSV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63824" y="1188720"/>
            <a:ext cx="128016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63824" y="1207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163824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43984" y="1773936"/>
            <a:ext cx="18288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8104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1188720"/>
            <a:ext cx="1280160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45152" y="1207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45152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25312" y="1773936"/>
            <a:ext cx="18288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188720"/>
            <a:ext cx="1280160" cy="1234440"/>
          </a:xfrm>
          <a:prstGeom prst="rect">
            <a:avLst/>
          </a:prstGeom>
          <a:solidFill>
            <a:srgbClr val="C25B10"/>
          </a:solidFill>
          <a:ln w="12700">
            <a:solidFill>
              <a:srgbClr val="C25B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207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1773936"/>
            <a:ext cx="18288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/ Zone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07808" y="1188720"/>
            <a:ext cx="1280160" cy="1234440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07808" y="12070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07808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62088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" y="3200400"/>
            <a:ext cx="8741664" cy="475488"/>
          </a:xfrm>
          <a:prstGeom prst="rect">
            <a:avLst/>
          </a:prstGeom>
          <a:solidFill>
            <a:srgbClr val="1B3A4B">
              <a:alpha val="12000"/>
            </a:srgbClr>
          </a:solidFill>
          <a:ln w="12700">
            <a:solidFill>
              <a:srgbClr val="1B3A4B">
                <a:alpha val="2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040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- Orchestration quotidienne a 06h00 (DAG id_immobilier_pipeline)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1168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01168" y="416052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4160520"/>
            <a:ext cx="73152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ImmoAsk (API GraphQL)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14016" y="416052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14016" y="4160520"/>
            <a:ext cx="73152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96896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CoinAfrique (Web scraping)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26864" y="416052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26864" y="4160520"/>
            <a:ext cx="73152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(Excel)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9712" y="416052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39712" y="4160520"/>
            <a:ext cx="73152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41605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 Valeurs Venales (Excel)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206240" cy="41148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37160" cy="13716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requests, BeautifulSoup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37160" cy="13716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GraphQL ImmoAsk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37160" cy="13716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CoinAfrique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4206240" cy="173736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097280"/>
            <a:ext cx="420624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97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83480" y="1645920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002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3.5.1 PySpark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011680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659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nettoyage local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377440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3317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stockage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4206240" cy="173736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35808"/>
            <a:ext cx="42062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358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584448"/>
            <a:ext cx="137160" cy="137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387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2.x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950208"/>
            <a:ext cx="137160" cy="137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044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315968"/>
            <a:ext cx="137160" cy="137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2702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quotidien 06h00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035808"/>
            <a:ext cx="4206240" cy="1737360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035808"/>
            <a:ext cx="420624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0358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584448"/>
            <a:ext cx="137160" cy="1371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5387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web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3950208"/>
            <a:ext cx="137160" cy="1371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9044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Base 100 par zone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315968"/>
            <a:ext cx="137160" cy="1371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42702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comparatives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solidFill>
            <a:srgbClr val="1B3A4B">
              <a:alpha val="10000"/>
            </a:srgbClr>
          </a:solidFill>
          <a:ln w="12700">
            <a:solidFill>
              <a:srgbClr val="1B3A4B">
                <a:alpha val="1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8006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conteneurs Docker : Airflow / Spark Master / Spark Worker / Streamlit  +  MySQL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&amp; RESULTATS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20240" cy="6400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5 262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validees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5156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96312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geographiques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72584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051560"/>
            <a:ext cx="192024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72584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venales OTR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10515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1051560"/>
            <a:ext cx="1920240" cy="6400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48856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rejet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par source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CoinAfrique Excel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3154680"/>
            <a:ext cx="292608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154680"/>
            <a:ext cx="2340864" cy="146304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4381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ImmoAsk Excel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502152"/>
            <a:ext cx="292608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3502152"/>
            <a:ext cx="263347" cy="1463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4381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ImmoAsk Scraped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3849624"/>
            <a:ext cx="292608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3849624"/>
            <a:ext cx="263347" cy="1463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785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4197096"/>
            <a:ext cx="292608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197096"/>
            <a:ext cx="73152" cy="14630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CoinAfrique Scraped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4544568"/>
            <a:ext cx="292608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0" y="4544568"/>
            <a:ext cx="73152" cy="14630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de rejet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63440" y="3108960"/>
            <a:ext cx="64008" cy="256032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090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invalide ou trop longue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520440"/>
            <a:ext cx="64008" cy="256032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502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= description de lieu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931920"/>
            <a:ext cx="64008" cy="256032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3913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ou surface manquant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4343400"/>
            <a:ext cx="64008" cy="256032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4325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hors 10K-5Mds FCFA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DEFIS RENCONTRES ET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676656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11480" cy="67665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0698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demarre au chargement du DAG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deplacee dans run() - Airflow ne lance plus Spark au parsing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063240" cy="457200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2D6A4F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115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DAG stable, plus de timeout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8595360" cy="676656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19656"/>
            <a:ext cx="411480" cy="67665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9656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1865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brutes API incompatibles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167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Normalizers par source SCRAPED_NORMALIZERS avant le cleaning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1911096"/>
            <a:ext cx="3063240" cy="457200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2D6A4F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110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Architecture extensible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8595360" cy="676656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15184"/>
            <a:ext cx="411480" cy="67665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15184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26609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CoinAfrique = profil vendeur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9626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quartier via referentiels QUARTIERS_LOME / VILLES_TOGO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2706624"/>
            <a:ext cx="3063240" cy="457200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2D6A4F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70662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97 annonces scraped validees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10712"/>
            <a:ext cx="8595360" cy="676656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410712"/>
            <a:ext cx="411480" cy="67665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10712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4564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Prix/m2 aberrants dans le cleaning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sur prix total 10K-5Mds FCFA, prix/m2 calcule dans indicators.py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3502152"/>
            <a:ext cx="3063240" cy="457200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2D6A4F">
                <a:alpha val="2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502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Taux rejet : 9.5% vers 3.1%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676656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06240"/>
            <a:ext cx="411480" cy="67665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0624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" y="4251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 dans Docker Airflow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5537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str|None Python 3.10 par Optional[str] module typing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23560" y="4297680"/>
            <a:ext cx="3063240" cy="457200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2D6A4F">
                <a:alpha val="2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Compatibilite totale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APACHE AIRFLOW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1143000"/>
            <a:ext cx="1115568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ImmoAsk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1572768"/>
            <a:ext cx="128016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6464" y="1143000"/>
            <a:ext cx="1115568" cy="914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26464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27048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2032" y="1572768"/>
            <a:ext cx="128016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8336" y="1143000"/>
            <a:ext cx="1115568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88336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88336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03904" y="1572768"/>
            <a:ext cx="128016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0208" y="1143000"/>
            <a:ext cx="1115568" cy="9144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0208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50792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0208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65776" y="1572768"/>
            <a:ext cx="128016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1143000"/>
            <a:ext cx="1115568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12664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27648" y="1572768"/>
            <a:ext cx="128016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1143000"/>
            <a:ext cx="1115568" cy="9144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3952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74536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1572768"/>
            <a:ext cx="128016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35824" y="1143000"/>
            <a:ext cx="1115568" cy="914400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35824" y="116128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36408" y="1828800"/>
            <a:ext cx="914400" cy="18288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35824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3317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331720"/>
            <a:ext cx="64008" cy="65836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jours a 06h00 UTC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3317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331720"/>
            <a:ext cx="64008" cy="65836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Desactive catchup=False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17296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172968"/>
            <a:ext cx="64008" cy="65836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227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tentative delai 5 minutes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17296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172968"/>
            <a:ext cx="64008" cy="658368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3227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Spark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3776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subprocess docker exec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BASE DE DONNEES MySQL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743200" cy="1444752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97280"/>
            <a:ext cx="27432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zone_geographique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99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73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48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22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2743200" cy="1170432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834640"/>
            <a:ext cx="27432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source_donnees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236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511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785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1097280"/>
            <a:ext cx="2743200" cy="1719072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1097280"/>
            <a:ext cx="2743200" cy="34747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bien_immobilier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499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1773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type_bien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048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type_offre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2322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surface_m2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5968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id_zone FK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2834640"/>
            <a:ext cx="2743200" cy="1993392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834640"/>
            <a:ext cx="2743200" cy="347472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236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511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3785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prix_m2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4334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id_bien FK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4608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id_source FK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1097280"/>
            <a:ext cx="2743200" cy="1444752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097280"/>
            <a:ext cx="274320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valeur_venale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1499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773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id_zone FK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048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prix_m2_officiel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2322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surface_m2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834640"/>
            <a:ext cx="2743200" cy="1444752"/>
          </a:xfrm>
          <a:prstGeom prst="rect">
            <a:avLst/>
          </a:prstGeom>
          <a:solidFill>
            <a:srgbClr val="F4F1E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2834640"/>
            <a:ext cx="2743200" cy="34747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statistiques_zone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236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id_zone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3511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type_bien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37856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prix_moyen_m2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ecart_valeur_venale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9144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ET AMELIORATIONS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38912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hebdomadaire CoinAfrique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Geocodage GPS cartographie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surface amelioree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09728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097280"/>
            <a:ext cx="2743200" cy="43891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0972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1682496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1645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Facebook Marketplace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568" y="2505456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transactions notariales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3328416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ML predictif par zone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109728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097280"/>
            <a:ext cx="274320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0972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45936" y="1682496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1645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notaires et devs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45936" y="2505456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evolution des prix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45936" y="3328416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Kara et Atakpame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B3A4B">
              <a:alpha val="10000"/>
            </a:srgbClr>
          </a:solidFill>
          <a:ln w="12700">
            <a:solidFill>
              <a:srgbClr val="1B3A4B">
                <a:alpha val="1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Devenir la reference de transparence immobiliere au Togo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00" cy="45720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Immobilier - Big Data pour la Transparence Immobiliere au Togo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98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5 262 annonces collectees et validees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182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 de donnees integrees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66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automatise quotidiennement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86784"/>
            <a:ext cx="182880" cy="1828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950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de prix par zone disponibles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681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 Immobilier</dc:title>
  <dc:subject>PptxGenJS Presentation</dc:subject>
  <dc:creator>PptxGenJS</dc:creator>
  <cp:lastModifiedBy>PptxGenJS</cp:lastModifiedBy>
  <cp:revision>1</cp:revision>
  <dcterms:created xsi:type="dcterms:W3CDTF">2026-03-06T19:15:54Z</dcterms:created>
  <dcterms:modified xsi:type="dcterms:W3CDTF">2026-03-06T19:15:54Z</dcterms:modified>
</cp:coreProperties>
</file>