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8" r:id="rId5"/>
    <p:sldId id="259" r:id="rId6"/>
    <p:sldId id="263" r:id="rId7"/>
    <p:sldId id="260" r:id="rId8"/>
    <p:sldId id="264" r:id="rId9"/>
    <p:sldId id="267" r:id="rId10"/>
    <p:sldId id="261" r:id="rId11"/>
    <p:sldId id="262" r:id="rId12"/>
    <p:sldId id="265" r:id="rId13"/>
    <p:sldId id="266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883" autoAdjust="0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34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57656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18179" y="3488987"/>
            <a:ext cx="3125821" cy="1654513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377440"/>
            <a:ext cx="1280160" cy="1188720"/>
          </a:xfrm>
          <a:prstGeom prst="rect">
            <a:avLst/>
          </a:prstGeom>
          <a:solidFill>
            <a:srgbClr val="C15F3C">
              <a:alpha val="18000"/>
            </a:srgbClr>
          </a:solidFill>
          <a:ln w="12700">
            <a:solidFill>
              <a:srgbClr val="C15F3C">
                <a:alpha val="2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2817" y="189335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Immobilier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2817" y="996529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900" dirty="0">
                <a:solidFill>
                  <a:srgbClr val="D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Intelligent du Marché Immobilier </a:t>
            </a:r>
            <a:endParaRPr lang="en-US" sz="1900" dirty="0">
              <a:solidFill>
                <a:srgbClr val="D4A85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04217" y="2041368"/>
            <a:ext cx="4114800" cy="4572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Big Data 2026</a:t>
            </a:r>
            <a:endParaRPr lang="en-US" sz="1200" dirty="0"/>
          </a:p>
        </p:txBody>
      </p:sp>
      <p:sp>
        <p:nvSpPr>
          <p:cNvPr id="8" name="ZoneTexte 7"/>
          <p:cNvSpPr txBox="1"/>
          <p:nvPr/>
        </p:nvSpPr>
        <p:spPr>
          <a:xfrm>
            <a:off x="797668" y="2802477"/>
            <a:ext cx="26841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AYODILEKI </a:t>
            </a:r>
            <a:r>
              <a:rPr lang="fr-FR" b="1" dirty="0" err="1">
                <a:solidFill>
                  <a:schemeClr val="bg1"/>
                </a:solidFill>
              </a:rPr>
              <a:t>Maleki</a:t>
            </a:r>
            <a:r>
              <a:rPr lang="fr-FR" b="1" dirty="0">
                <a:solidFill>
                  <a:schemeClr val="bg1"/>
                </a:solidFill>
              </a:rPr>
              <a:t> </a:t>
            </a:r>
            <a:r>
              <a:rPr lang="fr-FR" b="1" dirty="0" smtClean="0">
                <a:solidFill>
                  <a:schemeClr val="bg1"/>
                </a:solidFill>
              </a:rPr>
              <a:t>Solange</a:t>
            </a:r>
          </a:p>
          <a:p>
            <a:r>
              <a:rPr lang="fr-FR" b="1" dirty="0">
                <a:solidFill>
                  <a:schemeClr val="bg1"/>
                </a:solidFill>
              </a:rPr>
              <a:t>DZAKPATA </a:t>
            </a:r>
            <a:r>
              <a:rPr lang="fr-FR" b="1" dirty="0" err="1">
                <a:solidFill>
                  <a:schemeClr val="bg1"/>
                </a:solidFill>
              </a:rPr>
              <a:t>Koami</a:t>
            </a:r>
            <a:r>
              <a:rPr lang="fr-FR" b="1" dirty="0">
                <a:solidFill>
                  <a:schemeClr val="bg1"/>
                </a:solidFill>
              </a:rPr>
              <a:t> </a:t>
            </a:r>
            <a:r>
              <a:rPr lang="fr-FR" b="1" dirty="0" smtClean="0">
                <a:solidFill>
                  <a:schemeClr val="bg1"/>
                </a:solidFill>
              </a:rPr>
              <a:t>Junior</a:t>
            </a:r>
          </a:p>
          <a:p>
            <a:r>
              <a:rPr lang="fr-FR" b="1" dirty="0">
                <a:solidFill>
                  <a:schemeClr val="bg1"/>
                </a:solidFill>
              </a:rPr>
              <a:t>DAYO </a:t>
            </a:r>
            <a:r>
              <a:rPr lang="fr-FR" b="1" dirty="0" err="1">
                <a:solidFill>
                  <a:schemeClr val="bg1"/>
                </a:solidFill>
              </a:rPr>
              <a:t>Kokou</a:t>
            </a:r>
            <a:r>
              <a:rPr lang="fr-FR" b="1" dirty="0">
                <a:solidFill>
                  <a:schemeClr val="bg1"/>
                </a:solidFill>
              </a:rPr>
              <a:t> Cyrille</a:t>
            </a:r>
            <a:endParaRPr lang="fr-FR" b="1" dirty="0" smtClean="0">
              <a:solidFill>
                <a:schemeClr val="bg1"/>
              </a:solidFill>
            </a:endParaRPr>
          </a:p>
          <a:p>
            <a:r>
              <a:rPr lang="fr-FR" b="1" dirty="0">
                <a:solidFill>
                  <a:schemeClr val="bg1"/>
                </a:solidFill>
              </a:rPr>
              <a:t>MADJIADOUM </a:t>
            </a:r>
            <a:r>
              <a:rPr lang="fr-FR" b="1" dirty="0" smtClean="0">
                <a:solidFill>
                  <a:schemeClr val="bg1"/>
                </a:solidFill>
              </a:rPr>
              <a:t>Yannick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1167319" y="2377440"/>
            <a:ext cx="1459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smtClean="0">
                <a:solidFill>
                  <a:schemeClr val="bg1"/>
                </a:solidFill>
              </a:rPr>
              <a:t>Présenté par:</a:t>
            </a:r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5457217" y="3869174"/>
            <a:ext cx="2538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smtClean="0">
                <a:solidFill>
                  <a:schemeClr val="bg1"/>
                </a:solidFill>
              </a:rPr>
              <a:t>Prof: M</a:t>
            </a:r>
            <a:r>
              <a:rPr lang="en-US" b="1" dirty="0" smtClean="0">
                <a:solidFill>
                  <a:schemeClr val="bg1"/>
                </a:solidFill>
              </a:rPr>
              <a:t>. ADANOU </a:t>
            </a:r>
            <a:r>
              <a:rPr lang="en-US" b="1" dirty="0" err="1" smtClean="0">
                <a:solidFill>
                  <a:schemeClr val="bg1"/>
                </a:solidFill>
              </a:rPr>
              <a:t>Kossi</a:t>
            </a:r>
            <a:r>
              <a:rPr lang="en-US" b="1" dirty="0" smtClean="0">
                <a:solidFill>
                  <a:schemeClr val="bg1"/>
                </a:solidFill>
              </a:rPr>
              <a:t>  </a:t>
            </a:r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45157" y="382621"/>
            <a:ext cx="2321669" cy="1704467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0"/>
            <a:ext cx="365760" cy="91440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PROBLEMATIQUE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269748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97280"/>
            <a:ext cx="2697480" cy="64008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03020" y="1298448"/>
            <a:ext cx="731520" cy="73152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03020" y="12984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57200" y="217627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Opacite du marche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donnee publique fiable sur les prix immobiliers au Togo. Acheteurs et vendeurs naviguent a l'aveugle.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097280"/>
            <a:ext cx="269748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097280"/>
            <a:ext cx="2697480" cy="64008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380" y="1298448"/>
            <a:ext cx="731520" cy="73152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83380" y="12984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337560" y="217627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</a:t>
            </a:r>
            <a:r>
              <a:rPr lang="en-US" sz="1400" b="1" dirty="0" smtClean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incoherent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37560" y="269748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Grands ecarts de prix entre quartiers sans explication. Impossible de comparer objectivement les offres.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097280"/>
            <a:ext cx="269748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1097280"/>
            <a:ext cx="2697480" cy="64008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63740" y="1298448"/>
            <a:ext cx="731520" cy="73152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63740" y="12984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17920" y="217627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dispersees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17920" y="269748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Annonces eparpillees sur ImmoAsk, CoinAfrique, Facebook. Aucune centralisation ni standardisation.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617720"/>
            <a:ext cx="8503920" cy="365760"/>
          </a:xfrm>
          <a:prstGeom prst="rect">
            <a:avLst/>
          </a:prstGeom>
          <a:solidFill>
            <a:srgbClr val="1B3A4B">
              <a:alpha val="10000"/>
            </a:srgbClr>
          </a:solidFill>
          <a:ln w="12700">
            <a:solidFill>
              <a:srgbClr val="1B3A4B">
                <a:alpha val="18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6177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rendre le marche immobilier togolais transparent, fiable et accessible a tous ?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— ID IMMOBILIER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023360" cy="3566160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1887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de reference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D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l'immobilier togolais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3291840" cy="4572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82880" cy="18288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128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automatique multi-sources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82880" cy="18288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670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 et standardisation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182880" cy="18288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1272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 d'indices de prix par zone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611880"/>
            <a:ext cx="182880" cy="18288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5844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avec valeurs venales OTR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182880" cy="18288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0416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Streamlit de consultation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1097280"/>
            <a:ext cx="4114800" cy="731520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0" y="1097280"/>
            <a:ext cx="530352" cy="73152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097280"/>
            <a:ext cx="530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394960" y="1152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94960" y="14813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Publier des prix de reference par quartier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011680"/>
            <a:ext cx="4114800" cy="731520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2011680"/>
            <a:ext cx="530352" cy="73152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011680"/>
            <a:ext cx="530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394960" y="20665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de marche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94960" y="23957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l'evolution des prix (Base 100)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54880" y="2926080"/>
            <a:ext cx="4114800" cy="731520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54880" y="2926080"/>
            <a:ext cx="530352" cy="73152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0" y="2926080"/>
            <a:ext cx="530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394960" y="29809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 OTR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394960" y="33101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prix marche vs valeurs venales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54880" y="3840480"/>
            <a:ext cx="4114800" cy="731520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54880" y="3840480"/>
            <a:ext cx="530352" cy="73152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0" y="3840480"/>
            <a:ext cx="530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394960" y="3895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394960" y="4224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quotidien sans intervention manuelle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33917"/>
            <a:ext cx="9144000" cy="914400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8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66" y="1325134"/>
            <a:ext cx="9033753" cy="265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42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917"/>
            <a:ext cx="9144000" cy="914400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0"/>
            <a:ext cx="365760" cy="91440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DU PIPELINE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01168" y="1188720"/>
            <a:ext cx="1280160" cy="123444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01168" y="120700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01168" y="16642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81328" y="1773936"/>
            <a:ext cx="182880" cy="6400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" y="2514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ImmoAsk API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CoinAfrique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82496" y="1188720"/>
            <a:ext cx="1280160" cy="123444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682496" y="120700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82496" y="16642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962656" y="1773936"/>
            <a:ext cx="182880" cy="6400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36776" y="2514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+ CSV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163824" y="1188720"/>
            <a:ext cx="1280160" cy="123444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163824" y="120700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163824" y="16642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43984" y="1773936"/>
            <a:ext cx="182880" cy="6400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18104" y="2514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45152" y="1188720"/>
            <a:ext cx="1280160" cy="1234440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645152" y="120700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645152" y="16642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925312" y="1773936"/>
            <a:ext cx="182880" cy="6400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99432" y="2514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26480" y="1188720"/>
            <a:ext cx="1280160" cy="1234440"/>
          </a:xfrm>
          <a:prstGeom prst="rect">
            <a:avLst/>
          </a:prstGeom>
          <a:solidFill>
            <a:srgbClr val="C25B10"/>
          </a:solidFill>
          <a:ln w="12700">
            <a:solidFill>
              <a:srgbClr val="C25B1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126480" y="120700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126480" y="16642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406640" y="1773936"/>
            <a:ext cx="182880" cy="6400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80760" y="2514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/ Zone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7808" y="1188720"/>
            <a:ext cx="1280160" cy="1234440"/>
          </a:xfrm>
          <a:prstGeom prst="rect">
            <a:avLst/>
          </a:prstGeom>
          <a:solidFill>
            <a:srgbClr val="8B2252"/>
          </a:solidFill>
          <a:ln w="12700">
            <a:solidFill>
              <a:srgbClr val="8B225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607808" y="120700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607808" y="16642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62088" y="2514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100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01168" y="3200400"/>
            <a:ext cx="8741664" cy="475488"/>
          </a:xfrm>
          <a:prstGeom prst="rect">
            <a:avLst/>
          </a:prstGeom>
          <a:solidFill>
            <a:srgbClr val="1B3A4B">
              <a:alpha val="12000"/>
            </a:srgbClr>
          </a:solidFill>
          <a:ln w="12700">
            <a:solidFill>
              <a:srgbClr val="1B3A4B">
                <a:alpha val="28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20040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 - Orchestration quotidienne a 06h00 (DAG id_immobilier_pipeline)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01168" y="38221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01168" y="4160520"/>
            <a:ext cx="20574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01168" y="4160520"/>
            <a:ext cx="73152" cy="658368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4048" y="416052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ImmoAsk (API GraphQL)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414016" y="4160520"/>
            <a:ext cx="20574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414016" y="4160520"/>
            <a:ext cx="73152" cy="658368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96896" y="416052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CoinAfrique (Web scraping)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626864" y="4160520"/>
            <a:ext cx="20574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626864" y="4160520"/>
            <a:ext cx="73152" cy="658368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09744" y="416052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(Excel)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839712" y="4160520"/>
            <a:ext cx="20574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839712" y="4160520"/>
            <a:ext cx="73152" cy="658368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22592" y="416052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 Valeurs Venales (Excel)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0"/>
            <a:ext cx="365760" cy="91440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APACHE AIRFLOW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64592" y="1143000"/>
            <a:ext cx="1115568" cy="91440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64592" y="1161288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</a:t>
            </a:r>
            <a:r>
              <a:rPr lang="en-US" sz="10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r>
              <a:rPr lang="en-US" sz="10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5176" y="1828800"/>
            <a:ext cx="914400" cy="182880"/>
          </a:xfrm>
          <a:prstGeom prst="rect">
            <a:avLst/>
          </a:prstGeom>
          <a:solidFill>
            <a:srgbClr val="FFFFFF">
              <a:alpha val="28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" y="181051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280160" y="1572768"/>
            <a:ext cx="128016" cy="5486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26464" y="1143000"/>
            <a:ext cx="1115568" cy="9144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426464" y="1161288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527048" y="1828800"/>
            <a:ext cx="914400" cy="182880"/>
          </a:xfrm>
          <a:prstGeom prst="rect">
            <a:avLst/>
          </a:prstGeom>
          <a:solidFill>
            <a:srgbClr val="FFFFFF">
              <a:alpha val="28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26464" y="181051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542032" y="1572768"/>
            <a:ext cx="128016" cy="5486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88336" y="1143000"/>
            <a:ext cx="1115568" cy="9144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88336" y="1161288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88920" y="1828800"/>
            <a:ext cx="914400" cy="182880"/>
          </a:xfrm>
          <a:prstGeom prst="rect">
            <a:avLst/>
          </a:prstGeom>
          <a:solidFill>
            <a:srgbClr val="FFFFFF">
              <a:alpha val="28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88336" y="181051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min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803904" y="1572768"/>
            <a:ext cx="128016" cy="5486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50208" y="1143000"/>
            <a:ext cx="1115568" cy="914400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950208" y="1161288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050792" y="1828800"/>
            <a:ext cx="914400" cy="182880"/>
          </a:xfrm>
          <a:prstGeom prst="rect">
            <a:avLst/>
          </a:prstGeom>
          <a:solidFill>
            <a:srgbClr val="FFFFFF">
              <a:alpha val="28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50208" y="181051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65776" y="1572768"/>
            <a:ext cx="128016" cy="5486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12080" y="1143000"/>
            <a:ext cx="1115568" cy="9144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212080" y="1161288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12664" y="1828800"/>
            <a:ext cx="914400" cy="182880"/>
          </a:xfrm>
          <a:prstGeom prst="rect">
            <a:avLst/>
          </a:prstGeom>
          <a:solidFill>
            <a:srgbClr val="FFFFFF">
              <a:alpha val="28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12080" y="181051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27648" y="1572768"/>
            <a:ext cx="128016" cy="5486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73952" y="1143000"/>
            <a:ext cx="1115568" cy="91440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473952" y="1161288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574536" y="1828800"/>
            <a:ext cx="914400" cy="182880"/>
          </a:xfrm>
          <a:prstGeom prst="rect">
            <a:avLst/>
          </a:prstGeom>
          <a:solidFill>
            <a:srgbClr val="FFFFFF">
              <a:alpha val="28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73952" y="181051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589520" y="1572768"/>
            <a:ext cx="128016" cy="5486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35824" y="1143000"/>
            <a:ext cx="1115568" cy="914400"/>
          </a:xfrm>
          <a:prstGeom prst="rect">
            <a:avLst/>
          </a:prstGeom>
          <a:solidFill>
            <a:srgbClr val="8B2252"/>
          </a:solidFill>
          <a:ln w="12700">
            <a:solidFill>
              <a:srgbClr val="8B225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735824" y="1161288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836408" y="1828800"/>
            <a:ext cx="914400" cy="182880"/>
          </a:xfrm>
          <a:prstGeom prst="rect">
            <a:avLst/>
          </a:prstGeom>
          <a:solidFill>
            <a:srgbClr val="FFFFFF">
              <a:alpha val="28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35824" y="181051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2331720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274320" y="2331720"/>
            <a:ext cx="64008" cy="658368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23865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57200" y="2679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jours a 06h00 UTC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54880" y="2331720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754880" y="2331720"/>
            <a:ext cx="64008" cy="658368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37760" y="23865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Catch-up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937760" y="2679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Desactive catchup=False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74320" y="3172968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274320" y="3172968"/>
            <a:ext cx="64008" cy="658368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32278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5720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tentative delai 5 minutes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754880" y="3172968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754880" y="3172968"/>
            <a:ext cx="64008" cy="658368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37760" y="32278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Spark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93776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minutes subprocess docker exec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TECHNOLOGIQUE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4206240" cy="1737360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97280"/>
            <a:ext cx="4206240" cy="41148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0972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137160" cy="13716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0020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requests, BeautifulSoup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011680"/>
            <a:ext cx="137160" cy="13716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96596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GraphQL ImmoAsk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377440"/>
            <a:ext cx="137160" cy="13716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33172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 </a:t>
            </a:r>
            <a:r>
              <a:rPr lang="en-US" sz="1100" dirty="0" err="1" smtClean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CoinAfrique</a:t>
            </a:r>
            <a:r>
              <a:rPr lang="en-US" sz="1100" dirty="0" smtClean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100" dirty="0" smtClean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ogo </a:t>
            </a:r>
            <a:r>
              <a:rPr lang="en-US" sz="1100" dirty="0" err="1" smtClean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00600" y="1097280"/>
            <a:ext cx="4206240" cy="1737360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00600" y="1097280"/>
            <a:ext cx="4206240" cy="4114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0972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983480" y="1645920"/>
            <a:ext cx="137160" cy="13716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0" y="160020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Spark 3.5.1 PySpark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983480" y="2011680"/>
            <a:ext cx="137160" cy="13716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196596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nettoyage local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83480" y="2377440"/>
            <a:ext cx="137160" cy="13716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0" y="233172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 stockage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3035808"/>
            <a:ext cx="4206240" cy="1737360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" y="3035808"/>
            <a:ext cx="4206240" cy="41148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03580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" y="3584448"/>
            <a:ext cx="137160" cy="13716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538728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 2.x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950208"/>
            <a:ext cx="137160" cy="13716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3904488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Docker Compose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4315968"/>
            <a:ext cx="137160" cy="13716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270248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quotidien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smtClean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06h00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00600" y="3035808"/>
            <a:ext cx="4206240" cy="1737360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800600" y="3035808"/>
            <a:ext cx="4206240" cy="411480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303580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983480" y="3584448"/>
            <a:ext cx="137160" cy="137160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12080" y="3538728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web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983480" y="3950208"/>
            <a:ext cx="137160" cy="137160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12080" y="3904488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Base 100 par zone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983480" y="4315968"/>
            <a:ext cx="137160" cy="137160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12080" y="4270248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comparatives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0040" y="4800600"/>
            <a:ext cx="8503920" cy="201168"/>
          </a:xfrm>
          <a:prstGeom prst="rect">
            <a:avLst/>
          </a:prstGeom>
          <a:solidFill>
            <a:srgbClr val="1B3A4B">
              <a:alpha val="10000"/>
            </a:srgbClr>
          </a:solidFill>
          <a:ln w="12700">
            <a:solidFill>
              <a:srgbClr val="1B3A4B">
                <a:alpha val="18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4800600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conteneurs Docker : Airflow / Spark Master / Spark Worker / Streamlit  +  MySQL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BASE DE DONNEES MySQL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82880" y="1097280"/>
            <a:ext cx="2743200" cy="1444752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" y="1097280"/>
            <a:ext cx="2743200" cy="347472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10972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zone_geographique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4996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PK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17739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0040" y="204825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225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prefecture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82880" y="2834640"/>
            <a:ext cx="2743200" cy="1188720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82880" y="2834640"/>
            <a:ext cx="2743200" cy="34747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" y="28346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source_donnees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0040" y="32369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PK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351129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37856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108960" y="1097280"/>
            <a:ext cx="2743200" cy="1719072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108960" y="1097280"/>
            <a:ext cx="2743200" cy="347472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08960" y="10972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bien_immobilier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46120" y="14996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PK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46120" y="17739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type_bien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46120" y="204825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type_offre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46120" y="23225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surface_m2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46120" y="259689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id_zone FK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19012" y="3218558"/>
            <a:ext cx="2743200" cy="2087556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08960" y="2909154"/>
            <a:ext cx="2743200" cy="347472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28346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annonce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246120" y="32369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PK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46120" y="351129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titre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246120" y="37856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246120" y="40599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prix_m2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246120" y="433425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id_bien FK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246120" y="46085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id_source FK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26480" y="1097280"/>
            <a:ext cx="2743200" cy="1444752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26480" y="1097280"/>
            <a:ext cx="2743200" cy="34747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0" y="10972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valeur_venale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263640" y="14996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PK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63640" y="17739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id_zone FK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63640" y="204825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prix_m2_officiel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63640" y="23225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surface_m2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126480" y="2834640"/>
            <a:ext cx="2743200" cy="1444752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126480" y="2834640"/>
            <a:ext cx="2743200" cy="347472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0" y="28346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statistiques_zone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263640" y="32369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id_zone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263640" y="351129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type_bien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263640" y="37856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prix_moyen_m2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263640" y="40599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ecart_valeur_venale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397"/>
            <a:ext cx="9177293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421549" cy="91440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13489" y="0"/>
            <a:ext cx="53080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BASE DE DONNEES MySQL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2546567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0"/>
            <a:ext cx="365760" cy="91440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&amp; RESULTATS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51560"/>
            <a:ext cx="1920240" cy="64008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2070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5 262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2004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Annonces validees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96312" y="1051560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96312" y="1051560"/>
            <a:ext cx="1920240" cy="6400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12070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566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496312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geographiques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72584" y="1051560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72584" y="1051560"/>
            <a:ext cx="1920240" cy="6400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2584" y="12070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354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672584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venales OTR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48856" y="1051560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48856" y="1051560"/>
            <a:ext cx="1920240" cy="64008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48856" y="12070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3.1%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848856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rejet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" y="26974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Repartition par source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0040" y="30906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CoinAfrique Excel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834640" y="3154680"/>
            <a:ext cx="2926080" cy="14630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34640" y="3154680"/>
            <a:ext cx="2340864" cy="146304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97880" y="30906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4210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0040" y="343814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ImmoAsk Excel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34640" y="3502152"/>
            <a:ext cx="2926080" cy="14630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34640" y="3502152"/>
            <a:ext cx="263347" cy="146304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97880" y="34381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20040" y="378561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ImmoAsk Scraped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34640" y="3849624"/>
            <a:ext cx="2926080" cy="14630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34640" y="3849624"/>
            <a:ext cx="263347" cy="146304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7880" y="37856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20040" y="41330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34640" y="4197096"/>
            <a:ext cx="2926080" cy="14630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34640" y="4197096"/>
            <a:ext cx="73152" cy="146304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97880" y="4133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20040" y="4480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CoinAfrique Scraped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834640" y="4544568"/>
            <a:ext cx="2926080" cy="14630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34640" y="4544568"/>
            <a:ext cx="73152" cy="146304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97880" y="4480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666688" y="2697480"/>
            <a:ext cx="211155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Regles de rejet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663440" y="3108960"/>
            <a:ext cx="64008" cy="256032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706735" y="3117261"/>
            <a:ext cx="17655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invalide ou trop longue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663440" y="3520440"/>
            <a:ext cx="64008" cy="256032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4109" y="3840480"/>
            <a:ext cx="15115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= description de lieu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663440" y="3931920"/>
            <a:ext cx="64008" cy="256032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85431" y="349132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ou surface manquant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663440" y="4343400"/>
            <a:ext cx="64008" cy="256032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86664" y="414314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hors 10K-5Mds FCFA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DEFIS RENCONTRES ET SOLUTIONS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24128"/>
            <a:ext cx="8595360" cy="676656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24128"/>
            <a:ext cx="411480" cy="676656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24128"/>
            <a:ext cx="411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06984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demarre au chargement du DAG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3716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SparkSession deplacee dans run() - Airflow ne lance plus Spark au parsing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23560" y="1115568"/>
            <a:ext cx="3063240" cy="457200"/>
          </a:xfrm>
          <a:prstGeom prst="rect">
            <a:avLst/>
          </a:prstGeom>
          <a:solidFill>
            <a:srgbClr val="2D6A4F">
              <a:alpha val="12000"/>
            </a:srgbClr>
          </a:solidFill>
          <a:ln w="12700">
            <a:solidFill>
              <a:srgbClr val="2D6A4F">
                <a:alpha val="28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111556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DAG stable, plus de timeout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819656"/>
            <a:ext cx="8595360" cy="676656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1819656"/>
            <a:ext cx="411480" cy="676656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819656"/>
            <a:ext cx="411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186537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 brutes API incompatibles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21671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Normalizers par source SCRAPED_NORMALIZERS avant le cleaning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23560" y="1911096"/>
            <a:ext cx="3063240" cy="457200"/>
          </a:xfrm>
          <a:prstGeom prst="rect">
            <a:avLst/>
          </a:prstGeom>
          <a:solidFill>
            <a:srgbClr val="2D6A4F">
              <a:alpha val="12000"/>
            </a:srgbClr>
          </a:solidFill>
          <a:ln w="12700">
            <a:solidFill>
              <a:srgbClr val="2D6A4F">
                <a:alpha val="28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0" y="191109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Architecture extensible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615184"/>
            <a:ext cx="8595360" cy="676656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" y="2615184"/>
            <a:ext cx="411480" cy="676656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615184"/>
            <a:ext cx="411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7240" y="26609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 CoinAfrique = profil vendeur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" y="296265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quartier via referentiels QUARTIERS_LOME / VILLES_TOGO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23560" y="2706624"/>
            <a:ext cx="3063240" cy="457200"/>
          </a:xfrm>
          <a:prstGeom prst="rect">
            <a:avLst/>
          </a:prstGeom>
          <a:solidFill>
            <a:srgbClr val="2D6A4F">
              <a:alpha val="12000"/>
            </a:srgbClr>
          </a:solidFill>
          <a:ln w="12700">
            <a:solidFill>
              <a:srgbClr val="2D6A4F">
                <a:alpha val="28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0" y="270662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97 annonces scraped validees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3410712"/>
            <a:ext cx="8595360" cy="676656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3410712"/>
            <a:ext cx="411480" cy="676656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3410712"/>
            <a:ext cx="411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77240" y="34564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Prix/m2 aberrants dans le cleaning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7240" y="37581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Regles sur prix total 10K-5Mds FCFA, prix/m2 calcule dans indicators.py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23560" y="3502152"/>
            <a:ext cx="3063240" cy="457200"/>
          </a:xfrm>
          <a:prstGeom prst="rect">
            <a:avLst/>
          </a:prstGeom>
          <a:solidFill>
            <a:srgbClr val="2D6A4F">
              <a:alpha val="12000"/>
            </a:srgbClr>
          </a:solidFill>
          <a:ln w="12700">
            <a:solidFill>
              <a:srgbClr val="2D6A4F">
                <a:alpha val="2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0" y="350215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Taux rejet : 9.5% vers 3.1%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4320" y="4206240"/>
            <a:ext cx="8595360" cy="676656"/>
          </a:xfrm>
          <a:prstGeom prst="rect">
            <a:avLst/>
          </a:prstGeom>
          <a:solidFill>
            <a:srgbClr val="F4F1E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4320" y="4206240"/>
            <a:ext cx="411480" cy="676656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4320" y="4206240"/>
            <a:ext cx="411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77240" y="425196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 dans Docker Airflow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77240" y="455371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Remplacement str|None Python 3.10 par Optional[str] module typing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23560" y="4297680"/>
            <a:ext cx="3063240" cy="457200"/>
          </a:xfrm>
          <a:prstGeom prst="rect">
            <a:avLst/>
          </a:prstGeom>
          <a:solidFill>
            <a:srgbClr val="2D6A4F">
              <a:alpha val="12000"/>
            </a:srgbClr>
          </a:solidFill>
          <a:ln w="12700">
            <a:solidFill>
              <a:srgbClr val="2D6A4F">
                <a:alpha val="28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0" y="42976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Compatibilite totale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0"/>
            <a:ext cx="365760" cy="91440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 ET AMELIORATIONS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274320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97280"/>
            <a:ext cx="2743200" cy="438912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09728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terme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82496"/>
            <a:ext cx="182880" cy="18288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459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hebdomadaire CoinAfrique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05456"/>
            <a:ext cx="182880" cy="18288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682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Geocodage GPS cartographie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28416"/>
            <a:ext cx="182880" cy="18288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9983" y="309067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surface amelioree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18688" y="1097280"/>
            <a:ext cx="274320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18688" y="1097280"/>
            <a:ext cx="2743200" cy="43891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18688" y="109728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 terme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01568" y="1682496"/>
            <a:ext cx="182880" cy="18288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75888" y="16459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 Facebook Marketplace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01568" y="2505456"/>
            <a:ext cx="182880" cy="18288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75888" y="24688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transactions notariales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01568" y="3328416"/>
            <a:ext cx="182880" cy="18288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75888" y="32918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ML predictif par zone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63056" y="1097280"/>
            <a:ext cx="274320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63056" y="1097280"/>
            <a:ext cx="2743200" cy="438912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63056" y="109728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terme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345936" y="1682496"/>
            <a:ext cx="182880" cy="18288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20256" y="16459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publique notaires et devs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45936" y="2505456"/>
            <a:ext cx="182880" cy="18288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20256" y="24688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evolution des prix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45936" y="3328416"/>
            <a:ext cx="182880" cy="18288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20256" y="32918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Kara et Atakpame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A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3291840"/>
            <a:ext cx="2560320" cy="185166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!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4572000" cy="45720"/>
          </a:xfrm>
          <a:prstGeom prst="rect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834640"/>
            <a:ext cx="182880" cy="18288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7980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5 262 annonces collectees et validees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182880" cy="18288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18211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sources de donnees integrees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602736"/>
            <a:ext cx="182880" cy="18288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566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automatise quotidiennement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86784"/>
            <a:ext cx="182880" cy="182880"/>
          </a:xfrm>
          <a:prstGeom prst="ellipse">
            <a:avLst/>
          </a:prstGeom>
          <a:solidFill>
            <a:srgbClr val="C15F3C"/>
          </a:solidFill>
          <a:ln w="12700">
            <a:solidFill>
              <a:srgbClr val="C15F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9502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 de prix par zone disponibles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6817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Big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2026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188366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900" dirty="0">
                <a:solidFill>
                  <a:srgbClr val="D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Intelligent du Marché Immobilier </a:t>
            </a:r>
            <a:endParaRPr lang="en-US" sz="1900" dirty="0">
              <a:solidFill>
                <a:srgbClr val="D4A85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1427</TotalTime>
  <Words>653</Words>
  <Application>Microsoft Office PowerPoint</Application>
  <PresentationFormat>Affichage à l'écran (16:9)</PresentationFormat>
  <Paragraphs>224</Paragraphs>
  <Slides>13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 Immobilier</dc:title>
  <dc:subject>PptxGenJS Presentation</dc:subject>
  <dc:creator>PptxGenJS</dc:creator>
  <cp:lastModifiedBy>Yannick Madjiadoum</cp:lastModifiedBy>
  <cp:revision>23</cp:revision>
  <dcterms:created xsi:type="dcterms:W3CDTF">2026-03-06T19:15:54Z</dcterms:created>
  <dcterms:modified xsi:type="dcterms:W3CDTF">2026-03-08T15:19:23Z</dcterms:modified>
</cp:coreProperties>
</file>